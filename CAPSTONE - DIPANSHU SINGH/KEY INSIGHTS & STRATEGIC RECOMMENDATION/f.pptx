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62" r:id="rId2"/>
    <p:sldId id="256" r:id="rId3"/>
    <p:sldId id="257" r:id="rId4"/>
    <p:sldId id="258" r:id="rId5"/>
    <p:sldId id="259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usiness core" id="{3A2F1D94-AC6E-4C42-9E48-130815E52C4D}">
          <p14:sldIdLst>
            <p14:sldId id="262"/>
            <p14:sldId id="256"/>
            <p14:sldId id="257"/>
            <p14:sldId id="258"/>
            <p14:sldId id="259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3"/>
            <p14:sldId id="284"/>
            <p14:sldId id="28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84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82AC6C-AE58-4A5F-9AA7-44619E47A90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91264-5F9B-4162-A048-0AEA7B71E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488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391264-5F9B-4162-A048-0AEA7B71E7E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598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67935-85A5-A087-8A5B-5485C0047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BACCD-D263-08E1-48C0-B145793DB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F775F-DEA7-3035-9729-30B249835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205D-BB1B-4D86-970F-7464002FDDF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39BD5-D956-2E97-8F73-F2D10DB84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6C1E4-213C-5554-01C4-7A97C411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4C3B-BB0A-4794-B69C-7E2DCE6A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63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D9B4-A8CB-3068-E8A9-ABCB94A5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D5AEC-4655-DBC3-C4BB-6A50BCF79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7BB9A-86CF-E7B4-3F4C-A85C469C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205D-BB1B-4D86-970F-7464002FDDF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6400D-1AFE-52ED-B4DC-1DA44BD57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B1FC1-7B5F-7402-9DBA-37EA81030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4C3B-BB0A-4794-B69C-7E2DCE6A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2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3EB35-4ECB-CA87-F59C-5EABF258F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8A3C7-818E-1B0B-D4FD-207E86893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4D178-318D-0C17-7F2A-1A1B4DCB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205D-BB1B-4D86-970F-7464002FDDF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04541-87D2-2943-4713-C36EFDAE1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51967-F993-DA6E-9A6D-92E196EF1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4C3B-BB0A-4794-B69C-7E2DCE6A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0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82BB-B5FF-C193-419D-E4A998112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79D50-8EE2-8ABB-0AF6-ACA6B8F8D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AC14F-2B15-5659-E6BD-BF9D37E2E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44EB0-C980-3A48-5A92-78A9E5570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205D-BB1B-4D86-970F-7464002FDDF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3E966-8BFA-E715-3067-D429C63B5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D2238-87DB-BC54-4FF9-924AAF73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4C3B-BB0A-4794-B69C-7E2DCE6A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128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553B-EE4B-C026-0B0B-3636A31C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96CBE-D326-A25D-95B4-C4683BC04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9D80F-459A-1D11-1D17-7B69266D0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A1569F-92FC-F834-E4BC-29E885A9FE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AE142-5CCA-81CC-D47E-9E6566248B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9D9A4-9A25-9732-EF63-9091EE76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205D-BB1B-4D86-970F-7464002FDDF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25987-81E5-8077-4060-F79EA1CC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C9F66-CEB7-74C2-3710-826BC7809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4C3B-BB0A-4794-B69C-7E2DCE6A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451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1E47-4E73-0AAE-3555-A7319974D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61443-6144-44F5-1570-920236D0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205D-BB1B-4D86-970F-7464002FDDF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F43D3-40CF-1A04-9674-82C49CBF1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F09C1-6773-B4C7-C6DC-88F0C8EB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4C3B-BB0A-4794-B69C-7E2DCE6A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58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A9DCB-0ED7-AACF-81C4-384710A8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205D-BB1B-4D86-970F-7464002FDDF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A25925-3429-0AB2-C2FD-D9FB72289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D2BA3-8210-4239-2E78-AC71AB52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4C3B-BB0A-4794-B69C-7E2DCE6A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672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7FFC-6274-4176-7EF8-DD379AE39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B2017-1C7F-FE6F-091C-CE808C154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97B80-B15A-40C6-CC0D-35AC01F5C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7D4B2-882D-D3B7-1254-4D51FF99D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205D-BB1B-4D86-970F-7464002FDDF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FD327-6A2C-E7F7-7244-2C470B87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81778-EDD1-2E20-7789-CADA9D7C8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4C3B-BB0A-4794-B69C-7E2DCE6A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78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BF8D-A7AB-2C58-1CBA-77154CDF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70A80-065D-B72F-EF8B-43083A0C4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C1E3D-BE86-93BB-5C53-CBA1E4472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EA832-BFCB-34B6-4F5E-8812EBA2E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205D-BB1B-4D86-970F-7464002FDDF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30A55-7A2E-070C-1586-8A4182F10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DBB2A-3F1F-4270-9B72-931F9C71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4C3B-BB0A-4794-B69C-7E2DCE6A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72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B48F3-DC9B-41A0-4D4E-83BC22659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DA970-D457-F3D3-D83E-F50CEA193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90E16-E4B7-9322-B5EC-CC6253E4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205D-BB1B-4D86-970F-7464002FDDF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FD8D4-A27F-8F97-4243-26B7ECB68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ADC11-9544-BDF5-C9E7-0C7DC615E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4C3B-BB0A-4794-B69C-7E2DCE6A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903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CDE2AC-8A72-6C85-5E3B-1C31593A8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CEAA6D-26CB-C196-28F3-18FC9AB60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C28E3-7D21-C131-C4E6-E1FA4493B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205D-BB1B-4D86-970F-7464002FDDF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BAFCB-9F2D-87CD-B861-04617E21D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8D8CC-6F65-9970-0DC2-823C4F8A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24C3B-BB0A-4794-B69C-7E2DCE6A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59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786537-D7B2-50F0-8180-837082A75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4464F-559F-D316-C8F6-F64A7E19E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94AFA-1636-1349-9CDA-C84BB6B9E3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E205D-BB1B-4D86-970F-7464002FDDF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AC5FB-DC6E-A650-2CA6-A694F861C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EC875-C256-49C5-5D41-7786873C9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24C3B-BB0A-4794-B69C-7E2DCE6A9B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40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b="1" dirty="0"/>
              <a:t>Business Understanding &amp; Analytical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</a:p>
          <a:p>
            <a:r>
              <a:rPr lang="en-US" b="1" dirty="0"/>
              <a:t>Business Context</a:t>
            </a:r>
          </a:p>
          <a:p>
            <a:r>
              <a:rPr lang="en-US" dirty="0"/>
              <a:t>Modern organizations operate in increasingly dynamic financial environments requiring real-time, actionable insights into financial health, cost drivers, revenue streams, and efficiency metrics. As a Financial Analytics Consultant for the Analytics Center of Excellence, the mission is to transform raw financial data into decision-ready executive dashboards that shape fiscal performance and strategic direction.</a:t>
            </a:r>
          </a:p>
          <a:p>
            <a:pPr marL="0" indent="0">
              <a:buNone/>
            </a:pPr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                                            </a:t>
            </a:r>
            <a:r>
              <a:rPr b="1" dirty="0">
                <a:ln w="12700">
                  <a:solidFill>
                    <a:schemeClr val="tx1"/>
                  </a:solidFill>
                  <a:prstDash val="solid"/>
                </a:ln>
                <a:effectLst>
                  <a:outerShdw dist="38100" dir="2640000" algn="bl" rotWithShape="0">
                    <a:schemeClr val="accent1"/>
                  </a:outerShdw>
                </a:effectLst>
              </a:rPr>
              <a:t>Prepared by: </a:t>
            </a:r>
            <a:r>
              <a:rPr lang="en-US" b="1" dirty="0">
                <a:ln w="12700">
                  <a:solidFill>
                    <a:schemeClr val="tx1"/>
                  </a:solidFill>
                  <a:prstDash val="solid"/>
                </a:ln>
                <a:effectLst>
                  <a:outerShdw dist="38100" dir="2640000" algn="bl" rotWithShape="0">
                    <a:schemeClr val="accent1"/>
                  </a:outerShdw>
                </a:effectLst>
              </a:rPr>
              <a:t>Dipanshu Singh</a:t>
            </a:r>
            <a:endParaRPr b="1" dirty="0">
              <a:ln w="12700">
                <a:solidFill>
                  <a:schemeClr val="tx1"/>
                </a:solidFill>
                <a:prstDash val="solid"/>
              </a:ln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33037-BE05-D102-D860-64C33C634552}"/>
              </a:ext>
            </a:extLst>
          </p:cNvPr>
          <p:cNvSpPr/>
          <p:nvPr/>
        </p:nvSpPr>
        <p:spPr>
          <a:xfrm>
            <a:off x="250723" y="117987"/>
            <a:ext cx="11606980" cy="10323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Core</a:t>
            </a:r>
            <a:endParaRPr lang="en-IN" sz="44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0623FC-7FA9-E33A-6308-23D1EB926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904" y="1667766"/>
            <a:ext cx="6439799" cy="46297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9448AC-685B-7545-3934-DAE16E3F1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70" y="2451308"/>
            <a:ext cx="4809250" cy="2858111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8BD039-01DC-4DA2-993E-4D1612CFAFCB}"/>
              </a:ext>
            </a:extLst>
          </p:cNvPr>
          <p:cNvSpPr/>
          <p:nvPr/>
        </p:nvSpPr>
        <p:spPr>
          <a:xfrm>
            <a:off x="250723" y="5309419"/>
            <a:ext cx="4134654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Business Optimization Insights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1C51D0-CAB8-3937-6E46-3DD6ED1ED1A4}"/>
              </a:ext>
            </a:extLst>
          </p:cNvPr>
          <p:cNvSpPr/>
          <p:nvPr/>
        </p:nvSpPr>
        <p:spPr>
          <a:xfrm>
            <a:off x="250723" y="5917178"/>
            <a:ext cx="6032090" cy="897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Monitoring key metrics and variances to identify growth opportunities and optimize budget allocation across all business segments.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533DEA-CCBA-D932-752F-0797A77FD14F}"/>
              </a:ext>
            </a:extLst>
          </p:cNvPr>
          <p:cNvSpPr/>
          <p:nvPr/>
        </p:nvSpPr>
        <p:spPr>
          <a:xfrm>
            <a:off x="250723" y="1295382"/>
            <a:ext cx="4134654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Budget vs actual revenues</a:t>
            </a:r>
            <a:endParaRPr lang="en-IN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59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487008F-7A56-3942-211C-F6481D0CF0EA}"/>
              </a:ext>
            </a:extLst>
          </p:cNvPr>
          <p:cNvSpPr/>
          <p:nvPr/>
        </p:nvSpPr>
        <p:spPr>
          <a:xfrm>
            <a:off x="162233" y="221226"/>
            <a:ext cx="4134654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Budget vs actual </a:t>
            </a:r>
            <a:r>
              <a:rPr lang="en-US" sz="2000" b="1" dirty="0" err="1">
                <a:solidFill>
                  <a:schemeClr val="tx1"/>
                </a:solidFill>
              </a:rPr>
              <a:t>expences</a:t>
            </a:r>
            <a:endParaRPr lang="en-US" sz="20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D0C4F-7D8D-29DA-9081-EDE3E745B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226" y="1014076"/>
            <a:ext cx="6443219" cy="45434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9A605E-7392-0EC6-FC33-F3B1FF0B6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92" y="1132864"/>
            <a:ext cx="3926034" cy="26942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877AF79-B874-6E75-F0C0-5AFB9C18731E}"/>
              </a:ext>
            </a:extLst>
          </p:cNvPr>
          <p:cNvSpPr/>
          <p:nvPr/>
        </p:nvSpPr>
        <p:spPr>
          <a:xfrm>
            <a:off x="260555" y="4873971"/>
            <a:ext cx="5432322" cy="18807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Monitoring expense management performance across enterprise, online, and retail business units to ensure financial discipline and operational efficiency 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Dashboard Tracking budget adherence and identifying variances to optimize spending and improve cost management strategies across all business segments..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7E4BD5-B4B1-DC23-2E0E-BBDFBA670DCA}"/>
              </a:ext>
            </a:extLst>
          </p:cNvPr>
          <p:cNvSpPr/>
          <p:nvPr/>
        </p:nvSpPr>
        <p:spPr>
          <a:xfrm>
            <a:off x="260555" y="4046680"/>
            <a:ext cx="1907458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809782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E87791-6AE5-73D1-30ED-1AA0DB48D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5" y="1347139"/>
            <a:ext cx="10707329" cy="208923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02641D-C08A-1E2A-45E5-818B03B6312E}"/>
              </a:ext>
            </a:extLst>
          </p:cNvPr>
          <p:cNvSpPr/>
          <p:nvPr/>
        </p:nvSpPr>
        <p:spPr>
          <a:xfrm>
            <a:off x="589935" y="191728"/>
            <a:ext cx="4134654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Business Unit Comparison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C4B742-C9D6-6A59-ABB1-AFDFF6F60E5A}"/>
              </a:ext>
            </a:extLst>
          </p:cNvPr>
          <p:cNvSpPr/>
          <p:nvPr/>
        </p:nvSpPr>
        <p:spPr>
          <a:xfrm>
            <a:off x="589934" y="3626565"/>
            <a:ext cx="4999705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Business Unit Performance Comparison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3C6D3D-5AFC-14CC-4422-09DD18DB51FF}"/>
              </a:ext>
            </a:extLst>
          </p:cNvPr>
          <p:cNvSpPr/>
          <p:nvPr/>
        </p:nvSpPr>
        <p:spPr>
          <a:xfrm>
            <a:off x="5628971" y="5450296"/>
            <a:ext cx="5953429" cy="11371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Highlighting margin efficiencies and cost structures to drive strategic resource allocation and business unit optimization decisions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2B70E0-CCCC-B89F-A917-48E4B34A857C}"/>
              </a:ext>
            </a:extLst>
          </p:cNvPr>
          <p:cNvSpPr/>
          <p:nvPr/>
        </p:nvSpPr>
        <p:spPr>
          <a:xfrm>
            <a:off x="457200" y="4424515"/>
            <a:ext cx="11125200" cy="914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Analyzing revenue, expenses, and profit margins across retail, enterprise, and online divisions to identify top performers and improvement areas.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0ED1ED-14D7-7AC3-515A-91C9E2F59A22}"/>
              </a:ext>
            </a:extLst>
          </p:cNvPr>
          <p:cNvSpPr/>
          <p:nvPr/>
        </p:nvSpPr>
        <p:spPr>
          <a:xfrm>
            <a:off x="609600" y="5434011"/>
            <a:ext cx="4999705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Profitability Insights Dashboard</a:t>
            </a:r>
            <a:endParaRPr lang="en-IN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62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CEED08-4E4E-78E6-9B2C-8225BEA15035}"/>
              </a:ext>
            </a:extLst>
          </p:cNvPr>
          <p:cNvSpPr/>
          <p:nvPr/>
        </p:nvSpPr>
        <p:spPr>
          <a:xfrm>
            <a:off x="589935" y="191728"/>
            <a:ext cx="4134654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Performance Analysis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5C4D34-857D-80F3-5743-4D7108E6B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5" y="1018744"/>
            <a:ext cx="10884310" cy="255774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9C1CCB-7A80-1BA0-367E-9C8E04E6DABE}"/>
              </a:ext>
            </a:extLst>
          </p:cNvPr>
          <p:cNvSpPr/>
          <p:nvPr/>
        </p:nvSpPr>
        <p:spPr>
          <a:xfrm>
            <a:off x="589935" y="3686115"/>
            <a:ext cx="4134654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Performance Analysis Overview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E10E64-D8EA-CD14-1E09-B15B9817D689}"/>
              </a:ext>
            </a:extLst>
          </p:cNvPr>
          <p:cNvSpPr/>
          <p:nvPr/>
        </p:nvSpPr>
        <p:spPr>
          <a:xfrm>
            <a:off x="589935" y="4403503"/>
            <a:ext cx="10884310" cy="105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Tracking total profit growth and business unit contributions across multi-year timeline to measure organizational success and momentum . 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DCD3E6-011E-3741-A0FC-894AA342FB8B}"/>
              </a:ext>
            </a:extLst>
          </p:cNvPr>
          <p:cNvSpPr/>
          <p:nvPr/>
        </p:nvSpPr>
        <p:spPr>
          <a:xfrm>
            <a:off x="589935" y="5676160"/>
            <a:ext cx="3170904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Profit Growth Trajectory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98D921-C857-8D45-9148-9FF66217F550}"/>
              </a:ext>
            </a:extLst>
          </p:cNvPr>
          <p:cNvSpPr/>
          <p:nvPr/>
        </p:nvSpPr>
        <p:spPr>
          <a:xfrm>
            <a:off x="4129548" y="5676160"/>
            <a:ext cx="7344697" cy="990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Analyzing enterprise, retail, and online performance trends to identify growth drivers and strategic opportunities for continued expansion</a:t>
            </a:r>
            <a:r>
              <a:rPr lang="en-US" dirty="0"/>
              <a:t>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81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839C43-2DF0-70C0-76D3-2A4A6780AA34}"/>
              </a:ext>
            </a:extLst>
          </p:cNvPr>
          <p:cNvSpPr/>
          <p:nvPr/>
        </p:nvSpPr>
        <p:spPr>
          <a:xfrm>
            <a:off x="398205" y="605040"/>
            <a:ext cx="3170904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 err="1">
                <a:solidFill>
                  <a:schemeClr val="tx1"/>
                </a:solidFill>
              </a:rPr>
              <a:t>Analyze</a:t>
            </a:r>
            <a:r>
              <a:rPr lang="en-IN" sz="2000" b="1" dirty="0">
                <a:solidFill>
                  <a:schemeClr val="tx1"/>
                </a:solidFill>
              </a:rPr>
              <a:t> profitability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8F8C6B-638A-8E36-362D-4E5B594D8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890" y="1212799"/>
            <a:ext cx="3716594" cy="44324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C4E49D-E546-B00E-0F93-C2F3E871F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268" y="1474839"/>
            <a:ext cx="2800069" cy="417036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ABE008-C5EC-A382-F48F-60CB90771B8B}"/>
              </a:ext>
            </a:extLst>
          </p:cNvPr>
          <p:cNvSpPr/>
          <p:nvPr/>
        </p:nvSpPr>
        <p:spPr>
          <a:xfrm>
            <a:off x="398205" y="1823399"/>
            <a:ext cx="4392896" cy="28041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Strong Q4 Performance </a:t>
            </a:r>
            <a:r>
              <a:rPr lang="en-US" dirty="0">
                <a:solidFill>
                  <a:schemeClr val="tx1"/>
                </a:solidFill>
              </a:rPr>
              <a:t>- April, August, October and December show peak profits above 11.5M, indicating consistent quarterly</a:t>
            </a:r>
          </a:p>
          <a:p>
            <a:r>
              <a:rPr lang="en-US" dirty="0">
                <a:solidFill>
                  <a:schemeClr val="tx1"/>
                </a:solidFill>
              </a:rPr>
              <a:t>strength.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Mid-Year Dip </a:t>
            </a:r>
            <a:r>
              <a:rPr lang="en-US" dirty="0">
                <a:solidFill>
                  <a:schemeClr val="tx1"/>
                </a:solidFill>
              </a:rPr>
              <a:t>- July shows significant profit drop (8M), suggesting seasonal slowdown or operational challenges needing investigation.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242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89C9B9-F0A2-0514-F008-0DEA9C05B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78" y="1212800"/>
            <a:ext cx="3072925" cy="521714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593D22-588B-A244-8B42-614702DBDE01}"/>
              </a:ext>
            </a:extLst>
          </p:cNvPr>
          <p:cNvSpPr/>
          <p:nvPr/>
        </p:nvSpPr>
        <p:spPr>
          <a:xfrm>
            <a:off x="398204" y="605040"/>
            <a:ext cx="3790337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tx1"/>
                </a:solidFill>
              </a:rPr>
              <a:t>Understand revenue patterns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F4D000-3294-E2AF-FFE9-DB186C147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948" y="2212258"/>
            <a:ext cx="5825613" cy="40112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B2C7C8D-4ED3-4926-BEC5-DCBEA6DA9F97}"/>
              </a:ext>
            </a:extLst>
          </p:cNvPr>
          <p:cNvSpPr/>
          <p:nvPr/>
        </p:nvSpPr>
        <p:spPr>
          <a:xfrm>
            <a:off x="4552338" y="482931"/>
            <a:ext cx="7241458" cy="1459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Clear Q4 Revenue Dominance </a:t>
            </a:r>
            <a:r>
              <a:rPr lang="en-US" dirty="0">
                <a:solidFill>
                  <a:schemeClr val="tx1"/>
                </a:solidFill>
              </a:rPr>
              <a:t>- December, August, and October are top revenue months, showing strong year-end performance cycle.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Q1 Revenue Challenge</a:t>
            </a:r>
            <a:r>
              <a:rPr lang="en-US" dirty="0">
                <a:solidFill>
                  <a:schemeClr val="tx1"/>
                </a:solidFill>
              </a:rPr>
              <a:t> - February and March show lowest revenue, indicating seasonal business pattern with slow start to the year.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822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C37E61-8423-114F-1442-546FDD28A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6921" r="-1364" b="-1"/>
          <a:stretch>
            <a:fillRect/>
          </a:stretch>
        </p:blipFill>
        <p:spPr>
          <a:xfrm>
            <a:off x="191231" y="1386349"/>
            <a:ext cx="3289387" cy="504394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9C6625-8CFD-B6F0-1EB3-E932629FAC17}"/>
              </a:ext>
            </a:extLst>
          </p:cNvPr>
          <p:cNvSpPr/>
          <p:nvPr/>
        </p:nvSpPr>
        <p:spPr>
          <a:xfrm>
            <a:off x="398204" y="605040"/>
            <a:ext cx="3790337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tx1"/>
                </a:solidFill>
              </a:rPr>
              <a:t>Understand </a:t>
            </a:r>
            <a:r>
              <a:rPr lang="en-IN" sz="2000" b="1" dirty="0" err="1">
                <a:solidFill>
                  <a:schemeClr val="tx1"/>
                </a:solidFill>
              </a:rPr>
              <a:t>expence</a:t>
            </a:r>
            <a:r>
              <a:rPr lang="en-IN" sz="2000" b="1" dirty="0">
                <a:solidFill>
                  <a:schemeClr val="tx1"/>
                </a:solidFill>
              </a:rPr>
              <a:t> patterns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B9B611-A5E5-73E0-89C8-039D6599E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405" y="2538122"/>
            <a:ext cx="6237459" cy="38921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713652F-BBF9-FA3A-D5FB-06E2FB10A7FE}"/>
              </a:ext>
            </a:extLst>
          </p:cNvPr>
          <p:cNvSpPr/>
          <p:nvPr/>
        </p:nvSpPr>
        <p:spPr>
          <a:xfrm>
            <a:off x="4586748" y="605040"/>
            <a:ext cx="6636775" cy="17252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Stable Expense Management </a:t>
            </a:r>
            <a:r>
              <a:rPr lang="en-US" dirty="0">
                <a:solidFill>
                  <a:schemeClr val="tx1"/>
                </a:solidFill>
              </a:rPr>
              <a:t>- Expenses remain relatively consistent year-round (</a:t>
            </a:r>
            <a:r>
              <a:rPr lang="en-US" dirty="0">
                <a:solidFill>
                  <a:srgbClr val="00B050"/>
                </a:solidFill>
              </a:rPr>
              <a:t>12M-16M range</a:t>
            </a:r>
            <a:r>
              <a:rPr lang="en-US" dirty="0">
                <a:solidFill>
                  <a:schemeClr val="tx1"/>
                </a:solidFill>
              </a:rPr>
              <a:t>), showing good operational cost control.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April Cost Peak </a:t>
            </a:r>
            <a:r>
              <a:rPr lang="en-US" dirty="0">
                <a:solidFill>
                  <a:schemeClr val="tx1"/>
                </a:solidFill>
              </a:rPr>
              <a:t>- Highest expenses in April don't align with revenue peaks, suggesting potential inefficiency or strategic investment in Q2.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593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8B9D6F-43AE-A138-398C-0B3FA8D52B0F}"/>
              </a:ext>
            </a:extLst>
          </p:cNvPr>
          <p:cNvSpPr/>
          <p:nvPr/>
        </p:nvSpPr>
        <p:spPr>
          <a:xfrm>
            <a:off x="2168013" y="192086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tx1"/>
                </a:solidFill>
              </a:rPr>
              <a:t>Key KPIs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383F7D-0B4F-AAE3-FF69-81EEEE6CC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15" y="1867158"/>
            <a:ext cx="11539170" cy="11942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6883F5-70E6-D09D-25DA-6D4EE7BB0352}"/>
              </a:ext>
            </a:extLst>
          </p:cNvPr>
          <p:cNvSpPr/>
          <p:nvPr/>
        </p:nvSpPr>
        <p:spPr>
          <a:xfrm>
            <a:off x="693174" y="3244645"/>
            <a:ext cx="10014155" cy="16223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Exceptional Profitability &amp; Efficiency </a:t>
            </a:r>
            <a:r>
              <a:rPr lang="en-US" dirty="0">
                <a:solidFill>
                  <a:schemeClr val="tx1"/>
                </a:solidFill>
              </a:rPr>
              <a:t>- 59.45% margin demonstrates highly effective cost control and premium pricing power.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Strong Budget Management </a:t>
            </a:r>
            <a:r>
              <a:rPr lang="en-US" dirty="0">
                <a:solidFill>
                  <a:schemeClr val="tx1"/>
                </a:solidFill>
              </a:rPr>
              <a:t>- 59.15% positive variance indicates significant revenue over-performance against forecasts.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114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CAC2C3-79DA-A56A-3B4A-D6C1224D0CDE}"/>
              </a:ext>
            </a:extLst>
          </p:cNvPr>
          <p:cNvSpPr/>
          <p:nvPr/>
        </p:nvSpPr>
        <p:spPr>
          <a:xfrm>
            <a:off x="2168013" y="192086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B</a:t>
            </a:r>
            <a:r>
              <a:rPr lang="en-IN" sz="3600" b="1" dirty="0">
                <a:solidFill>
                  <a:schemeClr val="tx1"/>
                </a:solidFill>
              </a:rPr>
              <a:t>USINESS UNIT - ENTERPRISES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5FEE7E-48A7-FC35-2445-B7D5763CDA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752"/>
          <a:stretch>
            <a:fillRect/>
          </a:stretch>
        </p:blipFill>
        <p:spPr>
          <a:xfrm>
            <a:off x="1445341" y="1911863"/>
            <a:ext cx="8775291" cy="119426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7DD07A-BCD2-EF26-5B0B-9E34DB20B330}"/>
              </a:ext>
            </a:extLst>
          </p:cNvPr>
          <p:cNvSpPr/>
          <p:nvPr/>
        </p:nvSpPr>
        <p:spPr>
          <a:xfrm>
            <a:off x="1076632" y="3429000"/>
            <a:ext cx="9807678" cy="29570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Extraordinary Enterprise Performance </a:t>
            </a:r>
            <a:r>
              <a:rPr lang="en-US" dirty="0">
                <a:solidFill>
                  <a:schemeClr val="tx1"/>
                </a:solidFill>
              </a:rPr>
              <a:t>- 182.68% profit margin indicates massive operational efficiency and premium value delivery.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Significant Revenue Over-Achievement </a:t>
            </a:r>
            <a:r>
              <a:rPr lang="en-US" dirty="0">
                <a:solidFill>
                  <a:schemeClr val="tx1"/>
                </a:solidFill>
              </a:rPr>
              <a:t>- 57.46% budget variance shows enterprise vastly exceeding revenue targets.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304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F927659-8B6A-5A66-55A9-8F0E6E3D15DF}"/>
              </a:ext>
            </a:extLst>
          </p:cNvPr>
          <p:cNvSpPr/>
          <p:nvPr/>
        </p:nvSpPr>
        <p:spPr>
          <a:xfrm>
            <a:off x="2168013" y="192086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B</a:t>
            </a:r>
            <a:r>
              <a:rPr lang="en-IN" sz="3600" b="1" dirty="0">
                <a:solidFill>
                  <a:schemeClr val="tx1"/>
                </a:solidFill>
              </a:rPr>
              <a:t>USINESS UNIT - ONLINE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A066DA-5532-CA51-9EC3-8B35B29A5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342" y="1857482"/>
            <a:ext cx="8229600" cy="119426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20273F-96AE-5844-1960-98728D808B4F}"/>
              </a:ext>
            </a:extLst>
          </p:cNvPr>
          <p:cNvSpPr/>
          <p:nvPr/>
        </p:nvSpPr>
        <p:spPr>
          <a:xfrm>
            <a:off x="1283110" y="3259394"/>
            <a:ext cx="8554064" cy="29054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Online Division Excellence </a:t>
            </a:r>
            <a:r>
              <a:rPr lang="en-IN" dirty="0">
                <a:solidFill>
                  <a:schemeClr val="tx1"/>
                </a:solidFill>
              </a:rPr>
              <a:t>- 172.77% profit margin demonstrates highly scalable digital operations with superior unit economics .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Strong Target Over-Performance </a:t>
            </a:r>
            <a:r>
              <a:rPr lang="en-IN" dirty="0">
                <a:solidFill>
                  <a:schemeClr val="tx1"/>
                </a:solidFill>
              </a:rPr>
              <a:t>- 57.24% budget variance confirms online channel significantly exceeding revenue expectations.</a:t>
            </a:r>
          </a:p>
        </p:txBody>
      </p:sp>
    </p:spTree>
    <p:extLst>
      <p:ext uri="{BB962C8B-B14F-4D97-AF65-F5344CB8AC3E}">
        <p14:creationId xmlns:p14="http://schemas.microsoft.com/office/powerpoint/2010/main" val="313637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ABE28E-173C-B874-943F-B5B85B3A41E3}"/>
              </a:ext>
            </a:extLst>
          </p:cNvPr>
          <p:cNvSpPr/>
          <p:nvPr/>
        </p:nvSpPr>
        <p:spPr>
          <a:xfrm>
            <a:off x="2241755" y="133093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B</a:t>
            </a:r>
            <a:r>
              <a:rPr lang="en-IN" sz="3600" b="1" dirty="0">
                <a:solidFill>
                  <a:schemeClr val="tx1"/>
                </a:solidFill>
              </a:rPr>
              <a:t>USINESS UNIT - RETAIL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5E8439-4C62-C9BC-5CB1-48E218384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033" y="1742249"/>
            <a:ext cx="7447934" cy="119426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9CF2D7-2C6F-DE2C-752B-6D6E18E7819E}"/>
              </a:ext>
            </a:extLst>
          </p:cNvPr>
          <p:cNvSpPr/>
          <p:nvPr/>
        </p:nvSpPr>
        <p:spPr>
          <a:xfrm>
            <a:off x="781663" y="3128598"/>
            <a:ext cx="9763433" cy="33016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Retail Dominance </a:t>
            </a:r>
            <a:r>
              <a:rPr lang="en-US" dirty="0">
                <a:solidFill>
                  <a:schemeClr val="tx1"/>
                </a:solidFill>
              </a:rPr>
              <a:t>- 179.94% profit margin shows exceptional in-store efficiency and strong customer value proposition 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Highest Budget Over-Performance </a:t>
            </a:r>
            <a:r>
              <a:rPr lang="en-US" dirty="0">
                <a:solidFill>
                  <a:schemeClr val="tx1"/>
                </a:solidFill>
              </a:rPr>
              <a:t>- 62.94% variance indicates retail division most significantly exceeding revenue forecasts.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499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C1AFF6-1653-6128-D70E-C14695C09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348" y="1681315"/>
            <a:ext cx="8657303" cy="112200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1603BA-AE7F-236D-64FE-14270555F3C1}"/>
              </a:ext>
            </a:extLst>
          </p:cNvPr>
          <p:cNvSpPr/>
          <p:nvPr/>
        </p:nvSpPr>
        <p:spPr>
          <a:xfrm>
            <a:off x="2168013" y="192086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REGION – EAST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A85C525-91E8-6D16-9D2A-B450500AE8B2}"/>
              </a:ext>
            </a:extLst>
          </p:cNvPr>
          <p:cNvSpPr/>
          <p:nvPr/>
        </p:nvSpPr>
        <p:spPr>
          <a:xfrm>
            <a:off x="1548581" y="3259394"/>
            <a:ext cx="8760542" cy="31119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East Region Exceptional Performance </a:t>
            </a:r>
            <a:r>
              <a:rPr lang="en-US" dirty="0">
                <a:solidFill>
                  <a:schemeClr val="tx1"/>
                </a:solidFill>
              </a:rPr>
              <a:t>- 231.35% profit margin indicates this is the most profitable and efficient operational region.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Highest Budget Over-Achievement </a:t>
            </a:r>
            <a:r>
              <a:rPr lang="en-US" dirty="0">
                <a:solidFill>
                  <a:schemeClr val="tx1"/>
                </a:solidFill>
              </a:rPr>
              <a:t>- 63.60% variance shows East region significantly outperforming all revenue expectations.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636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1BC344-1CE0-4B9A-208D-21C41E2BC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813" y="1873046"/>
            <a:ext cx="7801896" cy="101445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46CEAB-DDC9-F110-6AAF-60CD555275F2}"/>
              </a:ext>
            </a:extLst>
          </p:cNvPr>
          <p:cNvSpPr/>
          <p:nvPr/>
        </p:nvSpPr>
        <p:spPr>
          <a:xfrm>
            <a:off x="2168013" y="192086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REGION – NORTH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607892-DD23-50B6-03B3-3A745D44B77F}"/>
              </a:ext>
            </a:extLst>
          </p:cNvPr>
          <p:cNvSpPr/>
          <p:nvPr/>
        </p:nvSpPr>
        <p:spPr>
          <a:xfrm>
            <a:off x="1474839" y="3429000"/>
            <a:ext cx="8465574" cy="20868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North Region Peak Profitability </a:t>
            </a:r>
            <a:r>
              <a:rPr lang="en-US" dirty="0">
                <a:solidFill>
                  <a:schemeClr val="tx1"/>
                </a:solidFill>
              </a:rPr>
              <a:t>- 240.39% margin is the highest across all regions, indicating superior cost management and pricing power.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Strong Revenue Over-Performance </a:t>
            </a:r>
            <a:r>
              <a:rPr lang="en-US" dirty="0">
                <a:solidFill>
                  <a:schemeClr val="tx1"/>
                </a:solidFill>
              </a:rPr>
              <a:t>- 57.45% budget variance demonstrates consistent target exceeding in northern markets.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836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2BFAF3-3F49-F31C-5D33-827C854A3E40}"/>
              </a:ext>
            </a:extLst>
          </p:cNvPr>
          <p:cNvSpPr/>
          <p:nvPr/>
        </p:nvSpPr>
        <p:spPr>
          <a:xfrm>
            <a:off x="2168013" y="192086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REGION – SOUTH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900753-0E3B-86C0-1480-E28FB01FF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026" y="1711834"/>
            <a:ext cx="7295765" cy="119426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8F2D7E-6E90-D051-07D4-E496A31CA7A4}"/>
              </a:ext>
            </a:extLst>
          </p:cNvPr>
          <p:cNvSpPr/>
          <p:nvPr/>
        </p:nvSpPr>
        <p:spPr>
          <a:xfrm>
            <a:off x="634181" y="3038168"/>
            <a:ext cx="10471354" cy="343637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South Region Excellence </a:t>
            </a:r>
            <a:r>
              <a:rPr lang="en-US" dirty="0">
                <a:solidFill>
                  <a:schemeClr val="tx1"/>
                </a:solidFill>
              </a:rPr>
              <a:t>- 239.77% profit margin nearly matches North region, showing consistently superior profitability across multiple markets.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Robust Revenue Performance</a:t>
            </a:r>
            <a:r>
              <a:rPr lang="en-US" dirty="0">
                <a:solidFill>
                  <a:schemeClr val="tx1"/>
                </a:solidFill>
              </a:rPr>
              <a:t> - 57.85% budget variance indicates strong, reliable over-achievement against financial targets.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160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067368-1BBB-C3A4-3C65-5CF90F7A9B9D}"/>
              </a:ext>
            </a:extLst>
          </p:cNvPr>
          <p:cNvSpPr/>
          <p:nvPr/>
        </p:nvSpPr>
        <p:spPr>
          <a:xfrm>
            <a:off x="2168013" y="192086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REGION – WEST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E971FE-EB4D-56B5-21BB-FFBBFCC53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092" y="1637427"/>
            <a:ext cx="7594882" cy="94025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F86C30-A9B7-4DDF-9F50-9E2288954207}"/>
              </a:ext>
            </a:extLst>
          </p:cNvPr>
          <p:cNvSpPr/>
          <p:nvPr/>
        </p:nvSpPr>
        <p:spPr>
          <a:xfrm>
            <a:off x="1224116" y="2964426"/>
            <a:ext cx="9026013" cy="28759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West Region Efficiency Leader </a:t>
            </a:r>
            <a:r>
              <a:rPr lang="en-US" dirty="0">
                <a:solidFill>
                  <a:schemeClr val="tx1"/>
                </a:solidFill>
              </a:rPr>
              <a:t>- 239.99% profit margin demonstrates exceptional cost control and operational excellence.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Consistent Target Exceeding </a:t>
            </a:r>
            <a:r>
              <a:rPr lang="en-US" dirty="0">
                <a:solidFill>
                  <a:schemeClr val="tx1"/>
                </a:solidFill>
              </a:rPr>
              <a:t>- 57.71% budget variance shows reliable revenue over-performance in western markets.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912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FF04C2-AB07-657E-C919-5BD45F4B8146}"/>
              </a:ext>
            </a:extLst>
          </p:cNvPr>
          <p:cNvSpPr/>
          <p:nvPr/>
        </p:nvSpPr>
        <p:spPr>
          <a:xfrm>
            <a:off x="2477729" y="118320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Hypotheses H1</a:t>
            </a:r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E7FB5D-99FA-9AAC-0921-886AB1B4E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5" y="2826134"/>
            <a:ext cx="9468464" cy="34124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19A278-844C-53B9-2EF1-2154BF9FC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94" y="1498733"/>
            <a:ext cx="9822425" cy="102884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E2EAEA-2845-8AAB-DF5E-B7830F49D9C3}"/>
              </a:ext>
            </a:extLst>
          </p:cNvPr>
          <p:cNvSpPr/>
          <p:nvPr/>
        </p:nvSpPr>
        <p:spPr>
          <a:xfrm>
            <a:off x="6695768" y="2826134"/>
            <a:ext cx="5171767" cy="2533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Uniform Expense Management </a:t>
            </a:r>
            <a:r>
              <a:rPr lang="en-US" dirty="0">
                <a:solidFill>
                  <a:schemeClr val="tx1"/>
                </a:solidFill>
              </a:rPr>
              <a:t>- No significant expense differences across business units (p=0.7151), demonstrating consistent cost control organization-wide.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Standardized Operational Efficiency </a:t>
            </a:r>
            <a:r>
              <a:rPr lang="en-US" dirty="0">
                <a:solidFill>
                  <a:schemeClr val="tx1"/>
                </a:solidFill>
              </a:rPr>
              <a:t>- Enterprise, Online, and Retail maintain similar expense profiles, indicating unified financial discipline and spending protocols.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398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BDB41C-D6A9-DAE1-419E-176337834CD5}"/>
              </a:ext>
            </a:extLst>
          </p:cNvPr>
          <p:cNvSpPr/>
          <p:nvPr/>
        </p:nvSpPr>
        <p:spPr>
          <a:xfrm>
            <a:off x="2477729" y="118320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Hypotheses H2</a:t>
            </a:r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6DBA8E-352F-6F15-D967-23B373607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02" y="1511676"/>
            <a:ext cx="7588047" cy="41369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2CFB32-F335-9982-5B92-2516ECEAC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749" y="1548580"/>
            <a:ext cx="3748549" cy="1122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D47EDA-B146-786C-E9CF-0D51046B7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749" y="2840210"/>
            <a:ext cx="3748549" cy="1014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1507D7-BE08-2A2D-5602-981BFAD21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2229" y="4024297"/>
            <a:ext cx="3775587" cy="11942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BCE758-DBB1-07DE-55AD-E7319C745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8711" y="5382295"/>
            <a:ext cx="3775587" cy="94025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9D78EA-247E-1B11-7238-39BC0FBC950E}"/>
              </a:ext>
            </a:extLst>
          </p:cNvPr>
          <p:cNvSpPr/>
          <p:nvPr/>
        </p:nvSpPr>
        <p:spPr>
          <a:xfrm>
            <a:off x="427703" y="5796116"/>
            <a:ext cx="7388942" cy="940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Regional Profitability Consistency </a:t>
            </a:r>
            <a:r>
              <a:rPr lang="en-US" sz="1050" dirty="0">
                <a:solidFill>
                  <a:schemeClr val="tx1"/>
                </a:solidFill>
              </a:rPr>
              <a:t>- All regions show nearly identical profit margins (~16%) with no statistically significant differences (p&gt;0.75).</a:t>
            </a:r>
          </a:p>
          <a:p>
            <a:pPr algn="ctr"/>
            <a:r>
              <a:rPr lang="en-US" sz="1050" b="1" dirty="0">
                <a:solidFill>
                  <a:schemeClr val="tx1"/>
                </a:solidFill>
              </a:rPr>
              <a:t>Uniform Performance Model </a:t>
            </a:r>
            <a:r>
              <a:rPr lang="en-US" sz="1050" dirty="0">
                <a:solidFill>
                  <a:schemeClr val="tx1"/>
                </a:solidFill>
              </a:rPr>
              <a:t>- East, North, South, and West demonstrate standardized operational efficiency and pricing strategies across geographic markets.</a:t>
            </a:r>
            <a:endParaRPr lang="en-IN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146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54FAFB-79C6-40BE-BE2D-CF54416C721D}"/>
              </a:ext>
            </a:extLst>
          </p:cNvPr>
          <p:cNvSpPr/>
          <p:nvPr/>
        </p:nvSpPr>
        <p:spPr>
          <a:xfrm>
            <a:off x="2477729" y="118320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Hypotheses H3</a:t>
            </a:r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7F34D-A0A8-2A58-B864-17AEB5638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10" y="1893625"/>
            <a:ext cx="7462683" cy="37326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F7E2C8-ABB2-49F5-A230-AF4E03838118}"/>
              </a:ext>
            </a:extLst>
          </p:cNvPr>
          <p:cNvSpPr/>
          <p:nvPr/>
        </p:nvSpPr>
        <p:spPr>
          <a:xfrm>
            <a:off x="8465574" y="1893625"/>
            <a:ext cx="3421626" cy="45720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Cost Efficiency Consistency </a:t>
            </a:r>
            <a:r>
              <a:rPr lang="en-US" dirty="0">
                <a:solidFill>
                  <a:schemeClr val="tx1"/>
                </a:solidFill>
              </a:rPr>
              <a:t>- No significant difference in employee costs across business units (p=0.4673), indicating standardized workforce investment.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Uniform Operational Model </a:t>
            </a:r>
            <a:r>
              <a:rPr lang="en-US" dirty="0">
                <a:solidFill>
                  <a:schemeClr val="tx1"/>
                </a:solidFill>
              </a:rPr>
              <a:t>- Enterprise, Online, and Retail maintain similar cost structures per employee, suggesting consistent HR policies and compensation scales.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973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570833-B399-BC03-F442-AB34A71023E1}"/>
              </a:ext>
            </a:extLst>
          </p:cNvPr>
          <p:cNvSpPr/>
          <p:nvPr/>
        </p:nvSpPr>
        <p:spPr>
          <a:xfrm>
            <a:off x="2197509" y="206810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Hypotheses H4</a:t>
            </a:r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4234D-BE20-6032-65C1-B794B0C11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98" y="2042652"/>
            <a:ext cx="6990735" cy="393781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16E580-F231-6FBB-C0D4-825A21CA6DD4}"/>
              </a:ext>
            </a:extLst>
          </p:cNvPr>
          <p:cNvSpPr/>
          <p:nvPr/>
        </p:nvSpPr>
        <p:spPr>
          <a:xfrm>
            <a:off x="8642555" y="2042652"/>
            <a:ext cx="3318387" cy="41664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Consistent Budget </a:t>
            </a:r>
            <a:r>
              <a:rPr lang="en-IN" b="1" dirty="0">
                <a:solidFill>
                  <a:schemeClr val="tx1"/>
                </a:solidFill>
              </a:rPr>
              <a:t>Performance</a:t>
            </a:r>
            <a:r>
              <a:rPr lang="en-IN" dirty="0">
                <a:solidFill>
                  <a:schemeClr val="tx1"/>
                </a:solidFill>
              </a:rPr>
              <a:t> - No significant difference in revenue variance accuracy across units (p=0.3146), indicating uniform forecasting reliability.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Standardized Planning Process </a:t>
            </a:r>
            <a:r>
              <a:rPr lang="en-IN" dirty="0">
                <a:solidFill>
                  <a:schemeClr val="tx1"/>
                </a:solidFill>
              </a:rPr>
              <a:t>- All business units show similar budget deviation patterns, suggesting centralized and consistent financial planning methodology.</a:t>
            </a:r>
          </a:p>
        </p:txBody>
      </p:sp>
    </p:spTree>
    <p:extLst>
      <p:ext uri="{BB962C8B-B14F-4D97-AF65-F5344CB8AC3E}">
        <p14:creationId xmlns:p14="http://schemas.microsoft.com/office/powerpoint/2010/main" val="3010002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993F21-3A09-53B5-D83E-4FE8EF143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34353"/>
            <a:ext cx="6742082" cy="410473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8FAA3E-F3EA-7798-BC8A-3D79868D124F}"/>
              </a:ext>
            </a:extLst>
          </p:cNvPr>
          <p:cNvSpPr/>
          <p:nvPr/>
        </p:nvSpPr>
        <p:spPr>
          <a:xfrm>
            <a:off x="2197509" y="206810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D</a:t>
            </a:r>
            <a:r>
              <a:rPr lang="en-IN" sz="5400" b="1" dirty="0">
                <a:solidFill>
                  <a:schemeClr val="bg1"/>
                </a:solidFill>
              </a:rPr>
              <a:t>ATA VALIDATION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F8C6A8-7924-472A-3EB0-6C0D2C08DC76}"/>
              </a:ext>
            </a:extLst>
          </p:cNvPr>
          <p:cNvSpPr/>
          <p:nvPr/>
        </p:nvSpPr>
        <p:spPr>
          <a:xfrm>
            <a:off x="7964130" y="1946787"/>
            <a:ext cx="3819832" cy="44835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High-Quality Data Foundation </a:t>
            </a:r>
            <a:r>
              <a:rPr lang="en-US" dirty="0">
                <a:solidFill>
                  <a:schemeClr val="tx1"/>
                </a:solidFill>
              </a:rPr>
              <a:t>- 99.0% data quality score across 288 records provides reliable analytical basis for business decisions.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Minimal Data Integrity Issues </a:t>
            </a:r>
            <a:r>
              <a:rPr lang="en-US" dirty="0">
                <a:solidFill>
                  <a:schemeClr val="tx1"/>
                </a:solidFill>
              </a:rPr>
              <a:t>- Only 3 records requiring review ensures confidence in statistical findings and strategic recommendations.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017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A1B704-CD85-FFD5-3C81-92F737CD6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42" y="2433484"/>
            <a:ext cx="7005484" cy="435077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D30A62-B9BB-FE58-3558-194E6159DF7E}"/>
              </a:ext>
            </a:extLst>
          </p:cNvPr>
          <p:cNvSpPr/>
          <p:nvPr/>
        </p:nvSpPr>
        <p:spPr>
          <a:xfrm>
            <a:off x="7536426" y="2580968"/>
            <a:ext cx="3819832" cy="42770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Systematic Budget Over-Estimation </a:t>
            </a:r>
            <a:r>
              <a:rPr lang="en-IN" dirty="0">
                <a:solidFill>
                  <a:schemeClr val="tx1"/>
                </a:solidFill>
              </a:rPr>
              <a:t>- Consistent negative variance (mean: 865K, median: 834K) shows expenses consistently under budget across all units.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Tight Financial Control </a:t>
            </a:r>
            <a:r>
              <a:rPr lang="en-IN" dirty="0">
                <a:solidFill>
                  <a:schemeClr val="tx1"/>
                </a:solidFill>
              </a:rPr>
              <a:t>- Low standard deviation (344K) and IQR (519K) indicate predictable, well-managed spending with minimal outliers.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4F781B-F8AE-99F0-F3B3-03D7C5A7B1C2}"/>
              </a:ext>
            </a:extLst>
          </p:cNvPr>
          <p:cNvSpPr/>
          <p:nvPr/>
        </p:nvSpPr>
        <p:spPr>
          <a:xfrm>
            <a:off x="560437" y="1619247"/>
            <a:ext cx="3790337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IN" sz="2000" b="1" dirty="0">
                <a:solidFill>
                  <a:schemeClr val="tx1"/>
                </a:solidFill>
              </a:rPr>
              <a:t>XPENCE VARIANCE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A29E65-224A-6146-1079-C0592BFB6078}"/>
              </a:ext>
            </a:extLst>
          </p:cNvPr>
          <p:cNvSpPr/>
          <p:nvPr/>
        </p:nvSpPr>
        <p:spPr>
          <a:xfrm>
            <a:off x="2905431" y="73742"/>
            <a:ext cx="6990735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Summary Statistics</a:t>
            </a:r>
          </a:p>
        </p:txBody>
      </p:sp>
    </p:spTree>
    <p:extLst>
      <p:ext uri="{BB962C8B-B14F-4D97-AF65-F5344CB8AC3E}">
        <p14:creationId xmlns:p14="http://schemas.microsoft.com/office/powerpoint/2010/main" val="3301543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A1B4D8-37C1-6148-78CC-C866EF75A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38" y="1858296"/>
            <a:ext cx="5914103" cy="380508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DA68B0-ED5C-BD51-AF90-72E9D34C6C3F}"/>
              </a:ext>
            </a:extLst>
          </p:cNvPr>
          <p:cNvSpPr/>
          <p:nvPr/>
        </p:nvSpPr>
        <p:spPr>
          <a:xfrm>
            <a:off x="560438" y="614820"/>
            <a:ext cx="3790337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REVENUE</a:t>
            </a:r>
            <a:r>
              <a:rPr lang="en-IN" sz="2000" b="1" dirty="0">
                <a:solidFill>
                  <a:schemeClr val="tx1"/>
                </a:solidFill>
              </a:rPr>
              <a:t> VARIANCE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532F32-0D0B-D65B-1EE9-424DDE6956C7}"/>
              </a:ext>
            </a:extLst>
          </p:cNvPr>
          <p:cNvSpPr/>
          <p:nvPr/>
        </p:nvSpPr>
        <p:spPr>
          <a:xfrm>
            <a:off x="6931742" y="2035277"/>
            <a:ext cx="4350774" cy="362810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Consistent Revenue Over-Performance </a:t>
            </a:r>
            <a:r>
              <a:rPr lang="en-US" dirty="0">
                <a:solidFill>
                  <a:schemeClr val="tx1"/>
                </a:solidFill>
              </a:rPr>
              <a:t>- Mean variance of +1.12M shows systematic revenue exceeding budget targets across all business units.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Strong Growth Momentum </a:t>
            </a:r>
            <a:r>
              <a:rPr lang="en-US" dirty="0">
                <a:solidFill>
                  <a:schemeClr val="tx1"/>
                </a:solidFill>
              </a:rPr>
              <a:t>- High positive median (1.07M) with wide IQR indicates substantial and frequent budget over-achievement in revenue generation.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190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FA2CA9-1305-E1A2-97F8-BC8BA69CB334}"/>
              </a:ext>
            </a:extLst>
          </p:cNvPr>
          <p:cNvSpPr/>
          <p:nvPr/>
        </p:nvSpPr>
        <p:spPr>
          <a:xfrm>
            <a:off x="560438" y="614820"/>
            <a:ext cx="3790337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BUDGET EXPENCE</a:t>
            </a:r>
            <a:r>
              <a:rPr lang="en-IN" sz="2000" b="1" dirty="0">
                <a:solidFill>
                  <a:schemeClr val="tx1"/>
                </a:solidFill>
              </a:rPr>
              <a:t> VARIANCE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7A36BA-B395-BCA0-589D-D12A81E5F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0" y="1804501"/>
            <a:ext cx="6341806" cy="415384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431CC8-6AEA-1483-AAA0-1BE0B152B842}"/>
              </a:ext>
            </a:extLst>
          </p:cNvPr>
          <p:cNvSpPr/>
          <p:nvPr/>
        </p:nvSpPr>
        <p:spPr>
          <a:xfrm>
            <a:off x="7580671" y="1804501"/>
            <a:ext cx="3598606" cy="41538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Conservative Budget Planning </a:t>
            </a:r>
            <a:r>
              <a:rPr lang="en-IN" dirty="0">
                <a:solidFill>
                  <a:schemeClr val="tx1"/>
                </a:solidFill>
              </a:rPr>
              <a:t>- Tight expense distribution (std: 294K) with consistent median (1.41M) shows disciplined, predictable financial forecasting.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Controlled Spending Allocation </a:t>
            </a:r>
            <a:r>
              <a:rPr lang="en-IN" dirty="0">
                <a:solidFill>
                  <a:schemeClr val="tx1"/>
                </a:solidFill>
              </a:rPr>
              <a:t>- Narrow IQR (443K) indicates minimal budget fluctuation, reflecting stable operational cost expectations across periods.</a:t>
            </a:r>
          </a:p>
        </p:txBody>
      </p:sp>
    </p:spTree>
    <p:extLst>
      <p:ext uri="{BB962C8B-B14F-4D97-AF65-F5344CB8AC3E}">
        <p14:creationId xmlns:p14="http://schemas.microsoft.com/office/powerpoint/2010/main" val="25193693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0240AA-1C5B-06F6-B5C2-D28DB722A13B}"/>
              </a:ext>
            </a:extLst>
          </p:cNvPr>
          <p:cNvSpPr/>
          <p:nvPr/>
        </p:nvSpPr>
        <p:spPr>
          <a:xfrm>
            <a:off x="560438" y="614820"/>
            <a:ext cx="3790337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BUDGET REVENUE</a:t>
            </a:r>
            <a:r>
              <a:rPr lang="en-IN" sz="2000" b="1" dirty="0">
                <a:solidFill>
                  <a:schemeClr val="tx1"/>
                </a:solidFill>
              </a:rPr>
              <a:t> VARIANCE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38B234-493F-0FCC-34F9-3D3C27B75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75" y="1763570"/>
            <a:ext cx="5402825" cy="426851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69BBBA-64AD-6719-6F16-AD344D8F1095}"/>
              </a:ext>
            </a:extLst>
          </p:cNvPr>
          <p:cNvSpPr/>
          <p:nvPr/>
        </p:nvSpPr>
        <p:spPr>
          <a:xfrm>
            <a:off x="6651524" y="1763570"/>
            <a:ext cx="4114800" cy="42685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Aggressive Revenue Planning </a:t>
            </a:r>
            <a:r>
              <a:rPr lang="en-US" dirty="0">
                <a:solidFill>
                  <a:schemeClr val="tx1"/>
                </a:solidFill>
              </a:rPr>
              <a:t>- High mean budget (1.89M) with tight standard deviation (257K) shows ambitious but consistent revenue targets.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Optimistic Growth Forecasting </a:t>
            </a:r>
            <a:r>
              <a:rPr lang="en-US" dirty="0">
                <a:solidFill>
                  <a:schemeClr val="tx1"/>
                </a:solidFill>
              </a:rPr>
              <a:t>- Narrow IQR (463K) indicates confident, stable revenue expectations across all business units and periods.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226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E035B8-AC53-EE8C-35BF-CD90720BE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95" y="1563548"/>
            <a:ext cx="9067415" cy="227851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E2AE74-DFD5-5F68-9A4E-D339A06DC06A}"/>
              </a:ext>
            </a:extLst>
          </p:cNvPr>
          <p:cNvSpPr/>
          <p:nvPr/>
        </p:nvSpPr>
        <p:spPr>
          <a:xfrm>
            <a:off x="560438" y="614820"/>
            <a:ext cx="3790337" cy="607759"/>
          </a:xfrm>
          <a:prstGeom prst="roundRect">
            <a:avLst/>
          </a:prstGeom>
          <a:solidFill>
            <a:srgbClr val="E984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RESULTE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0F831A2-AF03-6FFF-7F53-F8B5293D3CA8}"/>
              </a:ext>
            </a:extLst>
          </p:cNvPr>
          <p:cNvSpPr/>
          <p:nvPr/>
        </p:nvSpPr>
        <p:spPr>
          <a:xfrm>
            <a:off x="4542504" y="4183033"/>
            <a:ext cx="6150077" cy="23907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Massive Revenue Over</a:t>
            </a:r>
            <a:r>
              <a:rPr lang="en-US" dirty="0">
                <a:solidFill>
                  <a:schemeClr val="tx1"/>
                </a:solidFill>
              </a:rPr>
              <a:t>-Performance - 321M over-achievement demonstrates exceptional sales execution and market demand exceeding all expectations.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Significant Budget Surplus </a:t>
            </a:r>
            <a:r>
              <a:rPr lang="en-US" dirty="0">
                <a:solidFill>
                  <a:schemeClr val="tx1"/>
                </a:solidFill>
              </a:rPr>
              <a:t>- 249M expense under-run combined with revenue over-performance creates substantial positive financial position.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20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B97AD3-7BE2-0FF8-E200-D9AAB9107894}"/>
              </a:ext>
            </a:extLst>
          </p:cNvPr>
          <p:cNvSpPr/>
          <p:nvPr/>
        </p:nvSpPr>
        <p:spPr>
          <a:xfrm>
            <a:off x="235975" y="73742"/>
            <a:ext cx="11577484" cy="119426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STRATEGIC RECOMMENDATIONS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384F21-97FE-DAB2-65E1-EA8F1433AF5B}"/>
              </a:ext>
            </a:extLst>
          </p:cNvPr>
          <p:cNvSpPr/>
          <p:nvPr/>
        </p:nvSpPr>
        <p:spPr>
          <a:xfrm>
            <a:off x="0" y="1268005"/>
            <a:ext cx="12192000" cy="55899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1.Capitalize on Growth Momentum</a:t>
            </a:r>
          </a:p>
          <a:p>
            <a:pPr marL="342900" indent="-342900">
              <a:buAutoNum type="arabicPeriod"/>
            </a:pPr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· Increase Growth Investment</a:t>
            </a:r>
            <a:r>
              <a:rPr lang="en-US" sz="1400" dirty="0">
                <a:solidFill>
                  <a:schemeClr val="tx1"/>
                </a:solidFill>
              </a:rPr>
              <a:t>: Redirect the $249M budget surplus into scaling top-performing regions (North/West) and business units (Retail/Online)              </a:t>
            </a:r>
            <a:r>
              <a:rPr lang="en-US" sz="1400" b="1" dirty="0">
                <a:solidFill>
                  <a:schemeClr val="tx1"/>
                </a:solidFill>
              </a:rPr>
              <a:t>· Aggressive Target Setting</a:t>
            </a:r>
            <a:r>
              <a:rPr lang="en-US" sz="1400" dirty="0">
                <a:solidFill>
                  <a:schemeClr val="tx1"/>
                </a:solidFill>
              </a:rPr>
              <a:t>: Raise revenue targets by 15-20% given consistent over-performance across all units</a:t>
            </a:r>
          </a:p>
          <a:p>
            <a:pPr marL="342900" indent="-342900">
              <a:buAutoNum type="arabicPeriod"/>
            </a:pP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2</a:t>
            </a:r>
            <a:r>
              <a:rPr lang="en-US" sz="1400" dirty="0">
                <a:solidFill>
                  <a:schemeClr val="tx1"/>
                </a:solidFill>
              </a:rPr>
              <a:t>. </a:t>
            </a:r>
            <a:r>
              <a:rPr lang="en-US" sz="1400" b="1" dirty="0">
                <a:solidFill>
                  <a:schemeClr val="tx1"/>
                </a:solidFill>
              </a:rPr>
              <a:t>Optimize Operational Excellence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· Standardize Best Practices</a:t>
            </a:r>
            <a:r>
              <a:rPr lang="en-US" sz="1400" dirty="0">
                <a:solidFill>
                  <a:schemeClr val="tx1"/>
                </a:solidFill>
              </a:rPr>
              <a:t>: Document and replicate the cost control methods driving ~240% profit margins in all regions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· Leverage Data Quality</a:t>
            </a:r>
            <a:r>
              <a:rPr lang="en-US" sz="1400" dirty="0">
                <a:solidFill>
                  <a:schemeClr val="tx1"/>
                </a:solidFill>
              </a:rPr>
              <a:t>: Use the 99% data integrity to implement predictive analytics for demand planning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3. Strategic Resource Allocation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· Talent Investment</a:t>
            </a:r>
            <a:r>
              <a:rPr lang="en-US" sz="1400" dirty="0">
                <a:solidFill>
                  <a:schemeClr val="tx1"/>
                </a:solidFill>
              </a:rPr>
              <a:t>: Maintain uniform cost-per-employee across units while focusing on productivity gains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· Seasonal Optimization</a:t>
            </a:r>
            <a:r>
              <a:rPr lang="en-US" sz="1400" dirty="0">
                <a:solidFill>
                  <a:schemeClr val="tx1"/>
                </a:solidFill>
              </a:rPr>
              <a:t>: Align Q4 resource allocation with the proven December revenue peak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4</a:t>
            </a:r>
            <a:r>
              <a:rPr lang="en-US" sz="1400" dirty="0">
                <a:solidFill>
                  <a:schemeClr val="tx1"/>
                </a:solidFill>
              </a:rPr>
              <a:t>. </a:t>
            </a:r>
            <a:r>
              <a:rPr lang="en-US" sz="1400" b="1" dirty="0">
                <a:solidFill>
                  <a:schemeClr val="tx1"/>
                </a:solidFill>
              </a:rPr>
              <a:t>Risk Management &amp; Governance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· Conservative Forecasting</a:t>
            </a:r>
            <a:r>
              <a:rPr lang="en-US" sz="1400" dirty="0">
                <a:solidFill>
                  <a:schemeClr val="tx1"/>
                </a:solidFill>
              </a:rPr>
              <a:t>: Maintain current budget discipline while allowing more ambitious revenue targets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· Continuous Monitoring</a:t>
            </a:r>
            <a:r>
              <a:rPr lang="en-US" sz="1400" dirty="0">
                <a:solidFill>
                  <a:schemeClr val="tx1"/>
                </a:solidFill>
              </a:rPr>
              <a:t>: Implement real-time KPI dashboards to sustain current performance levels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Bottom Line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r>
              <a:rPr lang="en-US" sz="1400" dirty="0">
                <a:solidFill>
                  <a:schemeClr val="tx1"/>
                </a:solidFill>
              </a:rPr>
              <a:t> The organization has achieved elite operational efficiency—focus should shift to strategic growth acceleration while maintaining the exceptional cost discipline that drives unprecedented profitability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399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C44F59B-3BF5-AC34-9880-EBCDDCAA0D5D}"/>
              </a:ext>
            </a:extLst>
          </p:cNvPr>
          <p:cNvSpPr/>
          <p:nvPr/>
        </p:nvSpPr>
        <p:spPr>
          <a:xfrm>
            <a:off x="319548" y="280219"/>
            <a:ext cx="11223522" cy="62975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THANKES YOU</a:t>
            </a:r>
            <a:endParaRPr lang="en-IN" sz="60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377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1351</Words>
  <Application>Microsoft Office PowerPoint</Application>
  <PresentationFormat>Widescreen</PresentationFormat>
  <Paragraphs>130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Wingdings</vt:lpstr>
      <vt:lpstr>Office Theme</vt:lpstr>
      <vt:lpstr>Business Understanding &amp; Analytical Planning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17</cp:revision>
  <dcterms:created xsi:type="dcterms:W3CDTF">2025-11-30T05:58:43Z</dcterms:created>
  <dcterms:modified xsi:type="dcterms:W3CDTF">2025-11-30T14:20:58Z</dcterms:modified>
</cp:coreProperties>
</file>