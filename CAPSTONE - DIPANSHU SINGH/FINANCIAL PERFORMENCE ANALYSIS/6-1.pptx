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sldIdLst>
    <p:sldId id="26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8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8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1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38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38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22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27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1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81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022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684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997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579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668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4686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37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89761BB-2793-41A8-88B3-4698077C6E12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DC1814C-DDB0-4E9B-90FC-AFEDAFF47F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2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8F574A-FE6A-5679-8A94-10DDC5DD37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26CF44-F268-C7D2-60A6-B23EF01B31BF}"/>
              </a:ext>
            </a:extLst>
          </p:cNvPr>
          <p:cNvSpPr/>
          <p:nvPr/>
        </p:nvSpPr>
        <p:spPr>
          <a:xfrm>
            <a:off x="750255" y="1983657"/>
            <a:ext cx="10471355" cy="14453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Financial Performance Analysis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DATA ANALYST CAPSTONE PROJECT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87E713-06E3-D9FE-FD34-60E86021E227}"/>
              </a:ext>
            </a:extLst>
          </p:cNvPr>
          <p:cNvSpPr/>
          <p:nvPr/>
        </p:nvSpPr>
        <p:spPr>
          <a:xfrm>
            <a:off x="1745772" y="4365523"/>
            <a:ext cx="8008374" cy="14453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</a:t>
            </a:r>
            <a:r>
              <a:rPr lang="en-IN" sz="2800" b="1" dirty="0" err="1">
                <a:solidFill>
                  <a:schemeClr val="tx1"/>
                </a:solidFill>
              </a:rPr>
              <a:t>ubmitted</a:t>
            </a:r>
            <a:r>
              <a:rPr lang="en-IN" sz="2800" b="1" dirty="0">
                <a:solidFill>
                  <a:schemeClr val="tx1"/>
                </a:solidFill>
              </a:rPr>
              <a:t> By Dipanshu Singh</a:t>
            </a:r>
          </a:p>
        </p:txBody>
      </p:sp>
    </p:spTree>
    <p:extLst>
      <p:ext uri="{BB962C8B-B14F-4D97-AF65-F5344CB8AC3E}">
        <p14:creationId xmlns:p14="http://schemas.microsoft.com/office/powerpoint/2010/main" val="1874468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3BB2C4-D002-8872-955D-B6C1FF7106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B4FDEF-ABDC-8808-27D5-83469D6AFAE4}"/>
              </a:ext>
            </a:extLst>
          </p:cNvPr>
          <p:cNvSpPr/>
          <p:nvPr/>
        </p:nvSpPr>
        <p:spPr>
          <a:xfrm>
            <a:off x="752167" y="191728"/>
            <a:ext cx="10471355" cy="1032387"/>
          </a:xfrm>
          <a:prstGeom prst="round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Executive Summary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39751F-89E9-484E-BC57-B20B74798BE4}"/>
              </a:ext>
            </a:extLst>
          </p:cNvPr>
          <p:cNvSpPr/>
          <p:nvPr/>
        </p:nvSpPr>
        <p:spPr>
          <a:xfrm>
            <a:off x="914399" y="1415843"/>
            <a:ext cx="10146890" cy="43212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Project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solidFill>
                  <a:schemeClr val="tx1"/>
                </a:solidFill>
              </a:rPr>
              <a:t>Objective</a:t>
            </a:r>
            <a:r>
              <a:rPr lang="en-IN" dirty="0">
                <a:solidFill>
                  <a:schemeClr val="tx1"/>
                </a:solidFill>
              </a:rPr>
              <a:t>: Transform raw financial data into actionable insights for executive decision-making·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solidFill>
                  <a:schemeClr val="tx1"/>
                </a:solidFill>
              </a:rPr>
              <a:t>Scope</a:t>
            </a:r>
            <a:r>
              <a:rPr lang="en-IN" dirty="0">
                <a:solidFill>
                  <a:schemeClr val="tx1"/>
                </a:solidFill>
              </a:rPr>
              <a:t>: Comprehensive analysis of financial transactions, budgets, headcount, customers, and vendors·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solidFill>
                  <a:schemeClr val="tx1"/>
                </a:solidFill>
              </a:rPr>
              <a:t>Deliverable</a:t>
            </a:r>
            <a:r>
              <a:rPr lang="en-IN" dirty="0">
                <a:solidFill>
                  <a:schemeClr val="tx1"/>
                </a:solidFill>
              </a:rPr>
              <a:t>: Interactive executive dashboard + strategic recommendations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Key Focus Areas· Budget variance analysis· Cost optimization opportunities· Customer/vendor performance· Operational efficiency metrics-</a:t>
            </a:r>
          </a:p>
        </p:txBody>
      </p:sp>
    </p:spTree>
    <p:extLst>
      <p:ext uri="{BB962C8B-B14F-4D97-AF65-F5344CB8AC3E}">
        <p14:creationId xmlns:p14="http://schemas.microsoft.com/office/powerpoint/2010/main" val="237143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4DB35-8B03-CDFE-85CE-5597984AC9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531C0F-C5FE-D43A-B514-38B830006130}"/>
              </a:ext>
            </a:extLst>
          </p:cNvPr>
          <p:cNvSpPr/>
          <p:nvPr/>
        </p:nvSpPr>
        <p:spPr>
          <a:xfrm>
            <a:off x="752167" y="191728"/>
            <a:ext cx="10471355" cy="1032387"/>
          </a:xfrm>
          <a:prstGeom prst="round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Core Business Challenges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5857193-E338-E6CB-A547-A44C675D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452" y="-816742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Identified Pain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002EE5-B9AE-258B-03F0-EB18A4EC0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164961"/>
              </p:ext>
            </p:extLst>
          </p:nvPr>
        </p:nvGraphicFramePr>
        <p:xfrm>
          <a:off x="2514600" y="2102644"/>
          <a:ext cx="7162800" cy="3797300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767459012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63131500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5239491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Challenge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Impact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Priority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868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Cost Control &amp; Budget Adherence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Profitability erosion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129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quote-cjk-patch"/>
                        </a:rPr>
                        <a:t>Margin Pressure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Reduced competitive advantage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0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Operational Inefficiency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Higher operational costs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 err="1">
                          <a:effectLst/>
                          <a:latin typeface="quote-cjk-patch"/>
                        </a:rPr>
                        <a:t>Mediu</a:t>
                      </a:r>
                      <a:r>
                        <a:rPr lang="en-IN" b="0" dirty="0">
                          <a:effectLst/>
                          <a:latin typeface="quote-cjk-patch"/>
                        </a:rPr>
                        <a:t>-High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56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Customer/Vendor Concentration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Business continuity risk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42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Data-Driven Decision Making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Reactive vs proactive strategy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565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42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358EC0-7872-BB60-E20D-0C9DEBB19177}"/>
              </a:ext>
            </a:extLst>
          </p:cNvPr>
          <p:cNvSpPr/>
          <p:nvPr/>
        </p:nvSpPr>
        <p:spPr>
          <a:xfrm>
            <a:off x="-108156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4CFF95-E704-640A-FC46-906A164E6608}"/>
              </a:ext>
            </a:extLst>
          </p:cNvPr>
          <p:cNvSpPr/>
          <p:nvPr/>
        </p:nvSpPr>
        <p:spPr>
          <a:xfrm>
            <a:off x="752167" y="191728"/>
            <a:ext cx="10471355" cy="1032387"/>
          </a:xfrm>
          <a:prstGeom prst="round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 </a:t>
            </a:r>
            <a:r>
              <a:rPr lang="en-IN" sz="3600" b="1" dirty="0"/>
              <a:t>Analytical Goals &amp; Objectives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1142A2-3C38-0287-6C6B-94B4F3429B7C}"/>
              </a:ext>
            </a:extLst>
          </p:cNvPr>
          <p:cNvSpPr/>
          <p:nvPr/>
        </p:nvSpPr>
        <p:spPr>
          <a:xfrm>
            <a:off x="1002890" y="1460090"/>
            <a:ext cx="9763433" cy="49407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Primary Analytical Goals</a:t>
            </a:r>
          </a:p>
          <a:p>
            <a:r>
              <a:rPr lang="en-IN" b="1" dirty="0">
                <a:solidFill>
                  <a:schemeClr val="tx1"/>
                </a:solidFill>
              </a:rPr>
              <a:t>Develop Unified KPI Framework</a:t>
            </a:r>
            <a:endParaRPr lang="en-IN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Standardized metrics across organization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Consistent performance measurement</a:t>
            </a:r>
          </a:p>
          <a:p>
            <a:r>
              <a:rPr lang="en-IN" b="1" dirty="0">
                <a:solidFill>
                  <a:schemeClr val="tx1"/>
                </a:solidFill>
              </a:rPr>
              <a:t>Root-Cause Analysis</a:t>
            </a:r>
            <a:endParaRPr lang="en-IN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Diagnose budget variances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Identify cost drivers</a:t>
            </a:r>
          </a:p>
          <a:p>
            <a:r>
              <a:rPr lang="en-IN" b="1" dirty="0">
                <a:solidFill>
                  <a:schemeClr val="tx1"/>
                </a:solidFill>
              </a:rPr>
              <a:t>Predictive Insights</a:t>
            </a:r>
            <a:endParaRPr lang="en-IN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Statistical validation of assumptions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Trend analysis for forecasting</a:t>
            </a:r>
          </a:p>
          <a:p>
            <a:r>
              <a:rPr lang="en-IN" b="1" dirty="0">
                <a:solidFill>
                  <a:schemeClr val="tx1"/>
                </a:solidFill>
              </a:rPr>
              <a:t>Actionable Intelligence</a:t>
            </a:r>
            <a:endParaRPr lang="en-IN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Executive-ready visualizations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Clear 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6303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3026F6-5075-EA1C-5B15-2FD0E0EB0483}"/>
              </a:ext>
            </a:extLst>
          </p:cNvPr>
          <p:cNvSpPr/>
          <p:nvPr/>
        </p:nvSpPr>
        <p:spPr>
          <a:xfrm>
            <a:off x="-108156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53D97F-1BDF-66CC-9EC9-2427B056B636}"/>
              </a:ext>
            </a:extLst>
          </p:cNvPr>
          <p:cNvSpPr/>
          <p:nvPr/>
        </p:nvSpPr>
        <p:spPr>
          <a:xfrm>
            <a:off x="926690" y="235974"/>
            <a:ext cx="10471355" cy="1032387"/>
          </a:xfrm>
          <a:prstGeom prst="round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 </a:t>
            </a:r>
          </a:p>
          <a:p>
            <a:pPr algn="ctr"/>
            <a:r>
              <a:rPr lang="en-IN" sz="3600" b="1" dirty="0"/>
              <a:t>Key Performance Indicators (KPIs)</a:t>
            </a:r>
          </a:p>
          <a:p>
            <a:pPr algn="ctr"/>
            <a:endParaRPr lang="en-IN" sz="3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00153F-99DB-AA38-B679-98EFDB527813}"/>
              </a:ext>
            </a:extLst>
          </p:cNvPr>
          <p:cNvSpPr/>
          <p:nvPr/>
        </p:nvSpPr>
        <p:spPr>
          <a:xfrm>
            <a:off x="860322" y="1504335"/>
            <a:ext cx="10274710" cy="47784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E2A560-44FF-73B0-3878-F212C5836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41955"/>
              </p:ext>
            </p:extLst>
          </p:nvPr>
        </p:nvGraphicFramePr>
        <p:xfrm>
          <a:off x="1718187" y="2050663"/>
          <a:ext cx="7239339" cy="3303002"/>
        </p:xfrm>
        <a:graphic>
          <a:graphicData uri="http://schemas.openxmlformats.org/drawingml/2006/table">
            <a:tbl>
              <a:tblPr/>
              <a:tblGrid>
                <a:gridCol w="2413113">
                  <a:extLst>
                    <a:ext uri="{9D8B030D-6E8A-4147-A177-3AD203B41FA5}">
                      <a16:colId xmlns:a16="http://schemas.microsoft.com/office/drawing/2014/main" val="704575586"/>
                    </a:ext>
                  </a:extLst>
                </a:gridCol>
                <a:gridCol w="2413113">
                  <a:extLst>
                    <a:ext uri="{9D8B030D-6E8A-4147-A177-3AD203B41FA5}">
                      <a16:colId xmlns:a16="http://schemas.microsoft.com/office/drawing/2014/main" val="363864829"/>
                    </a:ext>
                  </a:extLst>
                </a:gridCol>
                <a:gridCol w="2413113">
                  <a:extLst>
                    <a:ext uri="{9D8B030D-6E8A-4147-A177-3AD203B41FA5}">
                      <a16:colId xmlns:a16="http://schemas.microsoft.com/office/drawing/2014/main" val="1398063066"/>
                    </a:ext>
                  </a:extLst>
                </a:gridCol>
              </a:tblGrid>
              <a:tr h="43697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Category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KPI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Target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296233"/>
                  </a:ext>
                </a:extLst>
              </a:tr>
              <a:tr h="4369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Profitability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Profit Margin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&gt;15%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197122"/>
                  </a:ext>
                </a:extLst>
              </a:tr>
              <a:tr h="4369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Gross Margin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&gt;30%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154859"/>
                  </a:ext>
                </a:extLst>
              </a:tr>
              <a:tr h="4369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Budget Performance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Budget Variance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±5%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495601"/>
                  </a:ext>
                </a:extLst>
              </a:tr>
              <a:tr h="4369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Budget Utilization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95-105%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023003"/>
                  </a:ext>
                </a:extLst>
              </a:tr>
              <a:tr h="4369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Efficiency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Cost per Employee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Below industry avg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61632"/>
                  </a:ext>
                </a:extLst>
              </a:tr>
              <a:tr h="68116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Revenue per Employee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Above industry </a:t>
                      </a:r>
                      <a:r>
                        <a:rPr lang="en-IN" b="0" dirty="0" err="1">
                          <a:effectLst/>
                          <a:latin typeface="quote-cjk-patch"/>
                        </a:rPr>
                        <a:t>avg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548490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FEEACA6B-E643-96EB-9529-154951618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187" y="2278453"/>
            <a:ext cx="12322278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384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2F7027-AA21-4216-626D-3A902E871D0B}"/>
              </a:ext>
            </a:extLst>
          </p:cNvPr>
          <p:cNvSpPr/>
          <p:nvPr/>
        </p:nvSpPr>
        <p:spPr>
          <a:xfrm>
            <a:off x="-108156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EB1043-EDE8-029A-1242-BBF970CF2175}"/>
              </a:ext>
            </a:extLst>
          </p:cNvPr>
          <p:cNvSpPr/>
          <p:nvPr/>
        </p:nvSpPr>
        <p:spPr>
          <a:xfrm>
            <a:off x="926690" y="235974"/>
            <a:ext cx="10471355" cy="1032387"/>
          </a:xfrm>
          <a:prstGeom prst="round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b="1" dirty="0"/>
          </a:p>
          <a:p>
            <a:pPr algn="ctr"/>
            <a:r>
              <a:rPr lang="en-IN" sz="3600" b="1" dirty="0"/>
              <a:t>Statistical Hypothesis Framework</a:t>
            </a:r>
          </a:p>
          <a:p>
            <a:pPr algn="ctr"/>
            <a:endParaRPr lang="en-IN" sz="36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35F15D-0966-508B-D3E1-72F99CECB035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1956594"/>
          <a:ext cx="7162800" cy="4089400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33861388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686060938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077132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Hypothesis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Statistical Test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Business Impact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966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H1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: Mean monthly expense differs across Business Units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ANOVA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Resource allocation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845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quote-cjk-patch"/>
                        </a:rPr>
                        <a:t>H2</a:t>
                      </a:r>
                      <a:r>
                        <a:rPr lang="fr-FR" b="0">
                          <a:effectLst/>
                          <a:latin typeface="quote-cjk-patch"/>
                        </a:rPr>
                        <a:t>: Enterprise segment revenue &gt; SMB segment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t-test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Sales strategy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516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H3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: Association between BU and over-budget status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Chi-square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Budget control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120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H4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: North region cost/employee &gt; company average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One-sample t-test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Regional efficiency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947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488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E8858C-2ACF-9699-E74F-EC07783CB354}"/>
              </a:ext>
            </a:extLst>
          </p:cNvPr>
          <p:cNvSpPr/>
          <p:nvPr/>
        </p:nvSpPr>
        <p:spPr>
          <a:xfrm>
            <a:off x="-108156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D5178D-F9DC-963B-E25A-6B483AC72014}"/>
              </a:ext>
            </a:extLst>
          </p:cNvPr>
          <p:cNvSpPr/>
          <p:nvPr/>
        </p:nvSpPr>
        <p:spPr>
          <a:xfrm>
            <a:off x="926690" y="235974"/>
            <a:ext cx="10471355" cy="1032387"/>
          </a:xfrm>
          <a:prstGeom prst="round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b="1" dirty="0"/>
          </a:p>
          <a:p>
            <a:pPr algn="ctr"/>
            <a:r>
              <a:rPr lang="en-IN" sz="3600" b="1" dirty="0"/>
              <a:t>Segmentation Strategy</a:t>
            </a:r>
          </a:p>
          <a:p>
            <a:pPr algn="ctr"/>
            <a:endParaRPr lang="en-IN" sz="36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8DEFC3-5AAB-FD72-C28E-6F45D5E48A2C}"/>
              </a:ext>
            </a:extLst>
          </p:cNvPr>
          <p:cNvSpPr/>
          <p:nvPr/>
        </p:nvSpPr>
        <p:spPr>
          <a:xfrm>
            <a:off x="1224116" y="1651819"/>
            <a:ext cx="9586452" cy="42917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Multi-Dimensional Analysis Framework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tx1"/>
                </a:solidFill>
              </a:rPr>
              <a:t>Time Dimensions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Year, Quarter, Month, Rolling periods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2. Organizational Dimensions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Business Unit, Region, Department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3. External Party Dimensions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Customer Segment, Vendor Category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4. Financial Dimensions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Revenue vs Expense, Transaction Category</a:t>
            </a:r>
          </a:p>
          <a:p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94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D0AE94-D102-ECB8-7DE2-95ABD8A650AC}"/>
              </a:ext>
            </a:extLst>
          </p:cNvPr>
          <p:cNvSpPr/>
          <p:nvPr/>
        </p:nvSpPr>
        <p:spPr>
          <a:xfrm>
            <a:off x="-108156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B3B11F-3F10-1E08-1340-A23C92ABE065}"/>
              </a:ext>
            </a:extLst>
          </p:cNvPr>
          <p:cNvSpPr/>
          <p:nvPr/>
        </p:nvSpPr>
        <p:spPr>
          <a:xfrm>
            <a:off x="926690" y="235974"/>
            <a:ext cx="10471355" cy="1032387"/>
          </a:xfrm>
          <a:prstGeom prst="round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b="1" dirty="0"/>
          </a:p>
          <a:p>
            <a:pPr algn="ctr"/>
            <a:r>
              <a:rPr lang="en-IN" sz="3600" b="1" dirty="0"/>
              <a:t>Data Sources &amp; Scope</a:t>
            </a:r>
          </a:p>
          <a:p>
            <a:pPr algn="ctr"/>
            <a:endParaRPr lang="en-IN" sz="36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69069B-3D01-F62B-C5DC-CAADA27A2A1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85244"/>
          <a:ext cx="10515600" cy="2832100"/>
        </p:xfrm>
        <a:graphic>
          <a:graphicData uri="http://schemas.openxmlformats.org/drawingml/2006/table">
            <a:tbl>
              <a:tblPr/>
              <a:tblGrid>
                <a:gridCol w="2247285">
                  <a:extLst>
                    <a:ext uri="{9D8B030D-6E8A-4147-A177-3AD203B41FA5}">
                      <a16:colId xmlns:a16="http://schemas.microsoft.com/office/drawing/2014/main" val="3811285896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3835687292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3494148655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2730020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Table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Records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Key Metrics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Analysis Purpose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585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Financial Transactions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All transactions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Revenue, Expense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Trend analysis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4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Budget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Planned targets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Budgeted amounts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Variance analysis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07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Headcount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Employee data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CTC, Status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Efficiency metrics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007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Customers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Client master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Segment, Region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Revenue concentration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704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Vendors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Supplier master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Category, Region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Cost optimization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232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456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9F536A-858C-7933-B09F-1963FDFDEE76}"/>
              </a:ext>
            </a:extLst>
          </p:cNvPr>
          <p:cNvSpPr/>
          <p:nvPr/>
        </p:nvSpPr>
        <p:spPr>
          <a:xfrm>
            <a:off x="-108158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32EBF7-AE49-F23E-0DA5-1E3843298102}"/>
              </a:ext>
            </a:extLst>
          </p:cNvPr>
          <p:cNvSpPr/>
          <p:nvPr/>
        </p:nvSpPr>
        <p:spPr>
          <a:xfrm>
            <a:off x="752165" y="176980"/>
            <a:ext cx="10471355" cy="10323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 </a:t>
            </a:r>
          </a:p>
          <a:p>
            <a:pPr algn="ctr"/>
            <a:r>
              <a:rPr lang="en-IN" sz="3600" b="1" dirty="0"/>
              <a:t>Business Outcomes</a:t>
            </a:r>
          </a:p>
          <a:p>
            <a:pPr algn="ctr"/>
            <a:endParaRPr lang="en-IN" sz="36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75C519-BD95-19EF-820D-4659CA27ED86}"/>
              </a:ext>
            </a:extLst>
          </p:cNvPr>
          <p:cNvSpPr/>
          <p:nvPr/>
        </p:nvSpPr>
        <p:spPr>
          <a:xfrm>
            <a:off x="1317522" y="1651819"/>
            <a:ext cx="9556955" cy="44245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Identified cost savings opportunities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Improved budget adherence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Enhanced decision-making speed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Data-driven strategic planning</a:t>
            </a:r>
          </a:p>
          <a:p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1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C3ACC5-15A2-EA40-55D2-93DC1DD9B9BF}"/>
              </a:ext>
            </a:extLst>
          </p:cNvPr>
          <p:cNvSpPr/>
          <p:nvPr/>
        </p:nvSpPr>
        <p:spPr>
          <a:xfrm>
            <a:off x="-108158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26019F-82B5-8DB8-0282-2B43D8CF53AE}"/>
              </a:ext>
            </a:extLst>
          </p:cNvPr>
          <p:cNvSpPr/>
          <p:nvPr/>
        </p:nvSpPr>
        <p:spPr>
          <a:xfrm>
            <a:off x="1342103" y="1799304"/>
            <a:ext cx="8731046" cy="30381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Thank You</a:t>
            </a:r>
          </a:p>
          <a:p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457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68</TotalTime>
  <Words>380</Words>
  <Application>Microsoft Office PowerPoint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Calisto MT</vt:lpstr>
      <vt:lpstr>quote-cjk-patch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Samiksha Khichi</cp:lastModifiedBy>
  <cp:revision>9</cp:revision>
  <dcterms:created xsi:type="dcterms:W3CDTF">2025-11-30T10:05:54Z</dcterms:created>
  <dcterms:modified xsi:type="dcterms:W3CDTF">2025-11-30T13:41:00Z</dcterms:modified>
</cp:coreProperties>
</file>